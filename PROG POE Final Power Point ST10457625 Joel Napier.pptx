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8" r:id="rId2"/>
    <p:sldId id="256" r:id="rId3"/>
    <p:sldId id="257"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5DCB6-0EAE-4B36-9D92-62CCAEAD1559}" type="datetimeFigureOut">
              <a:rPr lang="en-ZA" smtClean="0"/>
              <a:t>2025/11/21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48C6D1-CC86-4F35-8BE3-12690BA8C285}" type="slidenum">
              <a:rPr lang="en-ZA" smtClean="0"/>
              <a:t>‹#›</a:t>
            </a:fld>
            <a:endParaRPr lang="en-ZA"/>
          </a:p>
        </p:txBody>
      </p:sp>
    </p:spTree>
    <p:extLst>
      <p:ext uri="{BB962C8B-B14F-4D97-AF65-F5344CB8AC3E}">
        <p14:creationId xmlns:p14="http://schemas.microsoft.com/office/powerpoint/2010/main" val="532966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CCA9-6312-8821-D23C-3774D82053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196932E-C634-1FD6-96CF-BC95A5841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8E446D7-841E-2D1E-D244-2ECC271EAFE3}"/>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5" name="Footer Placeholder 4">
            <a:extLst>
              <a:ext uri="{FF2B5EF4-FFF2-40B4-BE49-F238E27FC236}">
                <a16:creationId xmlns:a16="http://schemas.microsoft.com/office/drawing/2014/main" id="{F478A505-751B-156F-8F51-F1650E094AF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7A8EC70E-56DE-2F7C-D2C6-E23BEAB595DF}"/>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3125585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3E112-0776-E9C0-B552-3414683F66AE}"/>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ACF2CCC-AAD4-EE05-D314-F4D25AF277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BC275A7E-B391-A417-BE2C-B2D2F57148A4}"/>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5" name="Footer Placeholder 4">
            <a:extLst>
              <a:ext uri="{FF2B5EF4-FFF2-40B4-BE49-F238E27FC236}">
                <a16:creationId xmlns:a16="http://schemas.microsoft.com/office/drawing/2014/main" id="{D471712C-51CC-D8DB-7027-D09554E1397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D1E9610-4D38-5016-7896-A42828A8D61B}"/>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2602981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101D-7ECB-BBE3-D88E-6CAB3AB7ED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58692AF-C0F4-6DA6-1F8B-7F5564A5B3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D4599D-88B0-394B-8A9A-78E2EEEEB7BB}"/>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5" name="Footer Placeholder 4">
            <a:extLst>
              <a:ext uri="{FF2B5EF4-FFF2-40B4-BE49-F238E27FC236}">
                <a16:creationId xmlns:a16="http://schemas.microsoft.com/office/drawing/2014/main" id="{8B511035-B14F-7046-9376-97F51E9F9EA6}"/>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AB6CBF1-9D54-BA30-581A-4F9E4C7DAE19}"/>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2730111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8E2ED-DB31-CD74-B93C-F319766B435F}"/>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C9E970AD-B4D4-7F34-6A5A-56FAFB614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9A6FF604-FA41-855A-6627-4144421BAAA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C16E8EFC-A3D4-C580-E301-D4D77439BF67}"/>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6" name="Footer Placeholder 5">
            <a:extLst>
              <a:ext uri="{FF2B5EF4-FFF2-40B4-BE49-F238E27FC236}">
                <a16:creationId xmlns:a16="http://schemas.microsoft.com/office/drawing/2014/main" id="{0A3D1274-AB5C-D71E-A814-7C1A181E7D9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C7C2B56-4861-7AD6-9165-18A247DCEEAC}"/>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4267400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95A02-1091-DE6C-A4A1-C88F80A9DEE5}"/>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D19997E3-D3FC-DB59-F0AA-831F3AC60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059665-3705-B6B2-228D-82AA8A9140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422FBA6A-A16A-3250-437F-9FBFE0AA3C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779C35-FAC2-5F74-AB96-4CDC8261C5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F910E722-1949-2A56-26FB-6077686739BE}"/>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8" name="Footer Placeholder 7">
            <a:extLst>
              <a:ext uri="{FF2B5EF4-FFF2-40B4-BE49-F238E27FC236}">
                <a16:creationId xmlns:a16="http://schemas.microsoft.com/office/drawing/2014/main" id="{EF27C0C7-DFB9-9B66-E717-DC35B0C0959D}"/>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F34FB731-2CDA-699E-5546-7EEB57C78EEC}"/>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3686229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77287-7DBB-5C3A-D421-183FCAFAAD7A}"/>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570B39F4-3B44-3505-C51F-1192F6F055C0}"/>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4" name="Footer Placeholder 3">
            <a:extLst>
              <a:ext uri="{FF2B5EF4-FFF2-40B4-BE49-F238E27FC236}">
                <a16:creationId xmlns:a16="http://schemas.microsoft.com/office/drawing/2014/main" id="{DF6C591E-0A3D-FDD1-5FF1-7675D64E03FD}"/>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682F72D0-4889-BE76-2851-102AE08D2BEE}"/>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2614434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23B455-64D9-93F8-895A-650068C34EEC}"/>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3" name="Footer Placeholder 2">
            <a:extLst>
              <a:ext uri="{FF2B5EF4-FFF2-40B4-BE49-F238E27FC236}">
                <a16:creationId xmlns:a16="http://schemas.microsoft.com/office/drawing/2014/main" id="{77CA5C46-8399-8D18-13B8-7CFEBD1CA56D}"/>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60EEE2D1-0F8E-7C44-0B60-CA8828F2073F}"/>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2954364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7C65A-648F-2016-00E4-0CE61AB452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CC168B88-EE16-2E71-9ED7-C42F89C084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104DC21-F0D7-520F-C645-ED346DB0B4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50916-618C-6D7D-984A-64186F5ED65A}"/>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6" name="Footer Placeholder 5">
            <a:extLst>
              <a:ext uri="{FF2B5EF4-FFF2-40B4-BE49-F238E27FC236}">
                <a16:creationId xmlns:a16="http://schemas.microsoft.com/office/drawing/2014/main" id="{64341895-13BE-2504-B8BC-6CB07994355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398372B7-6C50-71D3-0287-BD065DAB50DC}"/>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561849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98B31-219E-B494-FBA0-165E862DFE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B2F68CC5-C45F-E50C-0AF8-C13FB0C175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7DCEEE7B-D22D-DB36-8898-45EBC0550B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DB01DF-8836-CB83-8732-737AF39F3FD4}"/>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6" name="Footer Placeholder 5">
            <a:extLst>
              <a:ext uri="{FF2B5EF4-FFF2-40B4-BE49-F238E27FC236}">
                <a16:creationId xmlns:a16="http://schemas.microsoft.com/office/drawing/2014/main" id="{59C27039-488F-C7B0-6397-CAEC132601C9}"/>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0EE257C4-851F-D2D3-14EF-27689DC49EA4}"/>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1917153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B6B44-673A-081F-8619-04D6934102EF}"/>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E753527-B43F-E521-D4E5-3AC51EE095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3B06614-2301-FD23-8A52-7DE21500EF11}"/>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5" name="Footer Placeholder 4">
            <a:extLst>
              <a:ext uri="{FF2B5EF4-FFF2-40B4-BE49-F238E27FC236}">
                <a16:creationId xmlns:a16="http://schemas.microsoft.com/office/drawing/2014/main" id="{88BF53FE-15C9-873E-B9B5-66807B99800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8018379-4166-A4D6-5819-3207C230DE40}"/>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137948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DB1C75-7EF0-798D-7A4B-D32D7E9AC6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5E3F048-3DB1-04A9-3761-D599D77505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488EBAD-8346-CE1D-2A24-29F5E61FA03C}"/>
              </a:ext>
            </a:extLst>
          </p:cNvPr>
          <p:cNvSpPr>
            <a:spLocks noGrp="1"/>
          </p:cNvSpPr>
          <p:nvPr>
            <p:ph type="dt" sz="half" idx="10"/>
          </p:nvPr>
        </p:nvSpPr>
        <p:spPr/>
        <p:txBody>
          <a:bodyPr/>
          <a:lstStyle/>
          <a:p>
            <a:fld id="{BFED2188-6853-4DB3-AD31-6ABFC2606683}" type="datetimeFigureOut">
              <a:rPr lang="en-ZA" smtClean="0"/>
              <a:t>2025/11/20</a:t>
            </a:fld>
            <a:endParaRPr lang="en-ZA"/>
          </a:p>
        </p:txBody>
      </p:sp>
      <p:sp>
        <p:nvSpPr>
          <p:cNvPr id="5" name="Footer Placeholder 4">
            <a:extLst>
              <a:ext uri="{FF2B5EF4-FFF2-40B4-BE49-F238E27FC236}">
                <a16:creationId xmlns:a16="http://schemas.microsoft.com/office/drawing/2014/main" id="{09F84790-722B-5913-44A3-BE99B6BD118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F976AB58-1B4D-801D-B34B-70E0A79BB762}"/>
              </a:ext>
            </a:extLst>
          </p:cNvPr>
          <p:cNvSpPr>
            <a:spLocks noGrp="1"/>
          </p:cNvSpPr>
          <p:nvPr>
            <p:ph type="sldNum" sz="quarter" idx="12"/>
          </p:nvPr>
        </p:nvSpPr>
        <p:spPr/>
        <p:txBody>
          <a:bodyPr/>
          <a:lstStyle/>
          <a:p>
            <a:fld id="{7819421E-4A4F-4470-A409-78DBA126EEBF}" type="slidenum">
              <a:rPr lang="en-ZA" smtClean="0"/>
              <a:t>‹#›</a:t>
            </a:fld>
            <a:endParaRPr lang="en-ZA"/>
          </a:p>
        </p:txBody>
      </p:sp>
    </p:spTree>
    <p:extLst>
      <p:ext uri="{BB962C8B-B14F-4D97-AF65-F5344CB8AC3E}">
        <p14:creationId xmlns:p14="http://schemas.microsoft.com/office/powerpoint/2010/main" val="3714856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BD7237-51D4-3F18-66DF-A026C3429D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2C1E3D87-275F-20E6-EDB6-03DA47789C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5EA2420-A148-B5CC-C6AB-2796EC138C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FED2188-6853-4DB3-AD31-6ABFC2606683}" type="datetimeFigureOut">
              <a:rPr lang="en-ZA" smtClean="0"/>
              <a:t>2025/11/20</a:t>
            </a:fld>
            <a:endParaRPr lang="en-ZA"/>
          </a:p>
        </p:txBody>
      </p:sp>
      <p:sp>
        <p:nvSpPr>
          <p:cNvPr id="5" name="Footer Placeholder 4">
            <a:extLst>
              <a:ext uri="{FF2B5EF4-FFF2-40B4-BE49-F238E27FC236}">
                <a16:creationId xmlns:a16="http://schemas.microsoft.com/office/drawing/2014/main" id="{1A51FA73-D638-CF19-2E8F-09488EC97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625E218A-69BB-3D33-462B-9A3370A0D0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19421E-4A4F-4470-A409-78DBA126EEBF}" type="slidenum">
              <a:rPr lang="en-ZA" smtClean="0"/>
              <a:t>‹#›</a:t>
            </a:fld>
            <a:endParaRPr lang="en-ZA"/>
          </a:p>
        </p:txBody>
      </p:sp>
    </p:spTree>
    <p:extLst>
      <p:ext uri="{BB962C8B-B14F-4D97-AF65-F5344CB8AC3E}">
        <p14:creationId xmlns:p14="http://schemas.microsoft.com/office/powerpoint/2010/main" val="20265792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9A5372-6FC0-E91C-8D1A-8792604AE647}"/>
              </a:ext>
            </a:extLst>
          </p:cNvPr>
          <p:cNvSpPr>
            <a:spLocks noGrp="1"/>
          </p:cNvSpPr>
          <p:nvPr>
            <p:ph type="title"/>
          </p:nvPr>
        </p:nvSpPr>
        <p:spPr>
          <a:xfrm>
            <a:off x="838200" y="1641752"/>
            <a:ext cx="4391025" cy="1323439"/>
          </a:xfrm>
        </p:spPr>
        <p:txBody>
          <a:bodyPr anchor="t">
            <a:normAutofit/>
          </a:bodyPr>
          <a:lstStyle/>
          <a:p>
            <a:r>
              <a:rPr lang="en-ZA" sz="4000" u="sng">
                <a:solidFill>
                  <a:schemeClr val="bg1"/>
                </a:solidFill>
              </a:rPr>
              <a:t>PROG POE Final</a:t>
            </a:r>
          </a:p>
        </p:txBody>
      </p:sp>
      <p:sp>
        <p:nvSpPr>
          <p:cNvPr id="3" name="Content Placeholder 2">
            <a:extLst>
              <a:ext uri="{FF2B5EF4-FFF2-40B4-BE49-F238E27FC236}">
                <a16:creationId xmlns:a16="http://schemas.microsoft.com/office/drawing/2014/main" id="{25047CE0-B711-4C3F-38EA-1F668414DED5}"/>
              </a:ext>
            </a:extLst>
          </p:cNvPr>
          <p:cNvSpPr>
            <a:spLocks noGrp="1"/>
          </p:cNvSpPr>
          <p:nvPr>
            <p:ph idx="1"/>
          </p:nvPr>
        </p:nvSpPr>
        <p:spPr>
          <a:xfrm>
            <a:off x="838200" y="3146400"/>
            <a:ext cx="4391025" cy="2454300"/>
          </a:xfrm>
        </p:spPr>
        <p:txBody>
          <a:bodyPr>
            <a:normAutofit/>
          </a:bodyPr>
          <a:lstStyle/>
          <a:p>
            <a:pPr marL="0" indent="0">
              <a:buNone/>
            </a:pPr>
            <a:r>
              <a:rPr lang="en-ZA" sz="2400" u="sng">
                <a:solidFill>
                  <a:schemeClr val="bg1">
                    <a:alpha val="80000"/>
                  </a:schemeClr>
                </a:solidFill>
              </a:rPr>
              <a:t>Name: Joel Napier</a:t>
            </a:r>
          </a:p>
          <a:p>
            <a:pPr marL="0" indent="0">
              <a:buNone/>
            </a:pPr>
            <a:r>
              <a:rPr lang="en-ZA" sz="2400" u="sng">
                <a:solidFill>
                  <a:schemeClr val="bg1">
                    <a:alpha val="80000"/>
                  </a:schemeClr>
                </a:solidFill>
              </a:rPr>
              <a:t>Student Number: ST10457625</a:t>
            </a:r>
          </a:p>
        </p:txBody>
      </p:sp>
      <p:pic>
        <p:nvPicPr>
          <p:cNvPr id="5" name="Picture 4" descr="A screenshot of a computer&#10;&#10;AI-generated content may be incorrect.">
            <a:extLst>
              <a:ext uri="{FF2B5EF4-FFF2-40B4-BE49-F238E27FC236}">
                <a16:creationId xmlns:a16="http://schemas.microsoft.com/office/drawing/2014/main" id="{3A14B156-1457-97A9-7B35-0FC0D5098D61}"/>
              </a:ext>
            </a:extLst>
          </p:cNvPr>
          <p:cNvPicPr>
            <a:picLocks noChangeAspect="1"/>
          </p:cNvPicPr>
          <p:nvPr/>
        </p:nvPicPr>
        <p:blipFill>
          <a:blip r:embed="rId2"/>
          <a:stretch>
            <a:fillRect/>
          </a:stretch>
        </p:blipFill>
        <p:spPr>
          <a:xfrm>
            <a:off x="6095999" y="2166583"/>
            <a:ext cx="5260976" cy="2485810"/>
          </a:xfrm>
          <a:prstGeom prst="rect">
            <a:avLst/>
          </a:prstGeom>
        </p:spPr>
      </p:pic>
    </p:spTree>
    <p:extLst>
      <p:ext uri="{BB962C8B-B14F-4D97-AF65-F5344CB8AC3E}">
        <p14:creationId xmlns:p14="http://schemas.microsoft.com/office/powerpoint/2010/main" val="1874086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C45D9A-305F-6983-0D0A-1BBECDCCFA09}"/>
              </a:ext>
            </a:extLst>
          </p:cNvPr>
          <p:cNvSpPr>
            <a:spLocks noGrp="1"/>
          </p:cNvSpPr>
          <p:nvPr>
            <p:ph type="ctrTitle"/>
          </p:nvPr>
        </p:nvSpPr>
        <p:spPr>
          <a:xfrm>
            <a:off x="466722" y="586855"/>
            <a:ext cx="3201366" cy="3387497"/>
          </a:xfrm>
        </p:spPr>
        <p:txBody>
          <a:bodyPr vert="horz" lIns="91440" tIns="45720" rIns="91440" bIns="45720" rtlCol="0" anchor="b">
            <a:normAutofit/>
          </a:bodyPr>
          <a:lstStyle/>
          <a:p>
            <a:pPr algn="r"/>
            <a:r>
              <a:rPr lang="en-US" sz="4000" u="sng" kern="1200" dirty="0">
                <a:solidFill>
                  <a:srgbClr val="FFFFFF"/>
                </a:solidFill>
                <a:latin typeface="+mj-lt"/>
                <a:ea typeface="+mj-ea"/>
                <a:cs typeface="+mj-cs"/>
              </a:rPr>
              <a:t>Overview</a:t>
            </a:r>
            <a:r>
              <a:rPr lang="en-US" sz="4000" kern="1200" dirty="0">
                <a:solidFill>
                  <a:srgbClr val="FFFFFF"/>
                </a:solidFill>
                <a:latin typeface="+mj-lt"/>
                <a:ea typeface="+mj-ea"/>
                <a:cs typeface="+mj-cs"/>
              </a:rPr>
              <a:t> </a:t>
            </a:r>
          </a:p>
        </p:txBody>
      </p:sp>
      <p:sp>
        <p:nvSpPr>
          <p:cNvPr id="3" name="Subtitle 2">
            <a:extLst>
              <a:ext uri="{FF2B5EF4-FFF2-40B4-BE49-F238E27FC236}">
                <a16:creationId xmlns:a16="http://schemas.microsoft.com/office/drawing/2014/main" id="{2A65FA76-60D2-AA7A-B005-7FDEA8F59AC5}"/>
              </a:ext>
            </a:extLst>
          </p:cNvPr>
          <p:cNvSpPr>
            <a:spLocks noGrp="1"/>
          </p:cNvSpPr>
          <p:nvPr>
            <p:ph type="subTitle" idx="1"/>
          </p:nvPr>
        </p:nvSpPr>
        <p:spPr>
          <a:xfrm>
            <a:off x="4810259" y="649480"/>
            <a:ext cx="6555347" cy="5546047"/>
          </a:xfrm>
        </p:spPr>
        <p:txBody>
          <a:bodyPr vert="horz" lIns="91440" tIns="45720" rIns="91440" bIns="45720" rtlCol="0" anchor="ctr">
            <a:normAutofit/>
          </a:bodyPr>
          <a:lstStyle/>
          <a:p>
            <a:pPr indent="-228600" algn="l">
              <a:buFont typeface="Arial" panose="020B0604020202020204" pitchFamily="34" charset="0"/>
              <a:buChar char="•"/>
            </a:pPr>
            <a:r>
              <a:rPr lang="en-US" sz="2000" dirty="0"/>
              <a:t>The claim system now auto calculates the final payments based on the hours worked to the rate that is set by the HR as well as validates that the information is correct.</a:t>
            </a:r>
          </a:p>
          <a:p>
            <a:pPr indent="-228600" algn="l">
              <a:buFont typeface="Arial" panose="020B0604020202020204" pitchFamily="34" charset="0"/>
              <a:buChar char="•"/>
            </a:pPr>
            <a:r>
              <a:rPr lang="en-US" sz="2000" dirty="0"/>
              <a:t>The system automates the claim submission, verification, approval, and HR processing. Improving the overall efficiency, accuracy and tracking.</a:t>
            </a:r>
          </a:p>
          <a:p>
            <a:pPr indent="-228600" algn="l">
              <a:buFont typeface="Arial" panose="020B0604020202020204" pitchFamily="34" charset="0"/>
              <a:buChar char="•"/>
            </a:pPr>
            <a:r>
              <a:rPr lang="en-US" sz="2000" dirty="0"/>
              <a:t>The system works in a workflow 3 levels: Lecturer </a:t>
            </a:r>
            <a:r>
              <a:rPr lang="en-US" sz="2000" dirty="0">
                <a:sym typeface="Wingdings" panose="05000000000000000000" pitchFamily="2" charset="2"/>
              </a:rPr>
              <a:t> Coordinator  Manager</a:t>
            </a:r>
          </a:p>
          <a:p>
            <a:pPr indent="-228600" algn="l">
              <a:buFont typeface="Arial" panose="020B0604020202020204" pitchFamily="34" charset="0"/>
              <a:buChar char="•"/>
            </a:pPr>
            <a:r>
              <a:rPr lang="en-US" sz="2000" dirty="0">
                <a:sym typeface="Wingdings" panose="05000000000000000000" pitchFamily="2" charset="2"/>
              </a:rPr>
              <a:t>The system now incorporates role-based access using session-based authentication.</a:t>
            </a:r>
          </a:p>
          <a:p>
            <a:pPr indent="-228600" algn="l">
              <a:buFont typeface="Arial" panose="020B0604020202020204" pitchFamily="34" charset="0"/>
              <a:buChar char="•"/>
            </a:pPr>
            <a:r>
              <a:rPr lang="en-US" sz="2000" dirty="0">
                <a:sym typeface="Wingdings" panose="05000000000000000000" pitchFamily="2" charset="2"/>
              </a:rPr>
              <a:t>Entity Framework is used to manage the database operations, ensuring that claims, users and reviews are saved accordingly.</a:t>
            </a:r>
          </a:p>
          <a:p>
            <a:pPr indent="-228600" algn="l">
              <a:buFont typeface="Arial" panose="020B0604020202020204" pitchFamily="34" charset="0"/>
              <a:buChar char="•"/>
            </a:pPr>
            <a:r>
              <a:rPr lang="en-US" sz="2000" dirty="0">
                <a:sym typeface="Wingdings" panose="05000000000000000000" pitchFamily="2" charset="2"/>
              </a:rPr>
              <a:t>HR has the ability to generate reports and has the option to convert to a pdf downloads through using LINQ</a:t>
            </a:r>
          </a:p>
        </p:txBody>
      </p:sp>
    </p:spTree>
    <p:extLst>
      <p:ext uri="{BB962C8B-B14F-4D97-AF65-F5344CB8AC3E}">
        <p14:creationId xmlns:p14="http://schemas.microsoft.com/office/powerpoint/2010/main" val="3204137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4654285"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021F3B-59B2-1BC6-5476-5146ACB98CAF}"/>
              </a:ext>
            </a:extLst>
          </p:cNvPr>
          <p:cNvSpPr>
            <a:spLocks noGrp="1"/>
          </p:cNvSpPr>
          <p:nvPr>
            <p:ph type="title"/>
          </p:nvPr>
        </p:nvSpPr>
        <p:spPr>
          <a:xfrm>
            <a:off x="1156851" y="637763"/>
            <a:ext cx="2910051" cy="5576768"/>
          </a:xfrm>
        </p:spPr>
        <p:txBody>
          <a:bodyPr anchor="t">
            <a:normAutofit/>
          </a:bodyPr>
          <a:lstStyle/>
          <a:p>
            <a:r>
              <a:rPr lang="en-ZA" u="sng">
                <a:solidFill>
                  <a:schemeClr val="bg1"/>
                </a:solidFill>
              </a:rPr>
              <a:t>Automated Payment Calculation</a:t>
            </a:r>
          </a:p>
        </p:txBody>
      </p:sp>
      <p:sp>
        <p:nvSpPr>
          <p:cNvPr id="21" name="Rectangle 20">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2118" y="0"/>
            <a:ext cx="7529872"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8706AFF1-98F8-FAB6-EC25-2EEBD6B82094}"/>
              </a:ext>
            </a:extLst>
          </p:cNvPr>
          <p:cNvPicPr>
            <a:picLocks noChangeAspect="1"/>
          </p:cNvPicPr>
          <p:nvPr/>
        </p:nvPicPr>
        <p:blipFill>
          <a:blip r:embed="rId2"/>
          <a:srcRect r="1597" b="-2"/>
          <a:stretch>
            <a:fillRect/>
          </a:stretch>
        </p:blipFill>
        <p:spPr>
          <a:xfrm>
            <a:off x="5439976" y="637762"/>
            <a:ext cx="5592818" cy="2927110"/>
          </a:xfrm>
          <a:prstGeom prst="rect">
            <a:avLst/>
          </a:prstGeom>
        </p:spPr>
      </p:pic>
      <p:sp>
        <p:nvSpPr>
          <p:cNvPr id="23" name="Rectangle 2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9976" y="3996909"/>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9">
            <a:extLst>
              <a:ext uri="{FF2B5EF4-FFF2-40B4-BE49-F238E27FC236}">
                <a16:creationId xmlns:a16="http://schemas.microsoft.com/office/drawing/2014/main" id="{2C72EFF6-B18F-D70B-26E2-B4F6EF31020E}"/>
              </a:ext>
            </a:extLst>
          </p:cNvPr>
          <p:cNvSpPr>
            <a:spLocks noGrp="1"/>
          </p:cNvSpPr>
          <p:nvPr>
            <p:ph idx="1"/>
          </p:nvPr>
        </p:nvSpPr>
        <p:spPr>
          <a:xfrm>
            <a:off x="5439976" y="4202634"/>
            <a:ext cx="5592818" cy="2011897"/>
          </a:xfrm>
        </p:spPr>
        <p:txBody>
          <a:bodyPr>
            <a:normAutofit/>
          </a:bodyPr>
          <a:lstStyle/>
          <a:p>
            <a:pPr marL="0" indent="0">
              <a:buNone/>
            </a:pPr>
            <a:r>
              <a:rPr lang="en-ZA" sz="2000"/>
              <a:t>This code ensures that the final payment is auto calculated based on the hours worked set by the lecturer, and the hourly rate set by HR </a:t>
            </a:r>
          </a:p>
          <a:p>
            <a:pPr marL="0" indent="0">
              <a:buNone/>
            </a:pPr>
            <a:r>
              <a:rPr lang="en-ZA" sz="2000"/>
              <a:t>The built in validation ensures accurate values are shown, it has correct formatting and has complete data before submission</a:t>
            </a:r>
          </a:p>
        </p:txBody>
      </p:sp>
    </p:spTree>
    <p:extLst>
      <p:ext uri="{BB962C8B-B14F-4D97-AF65-F5344CB8AC3E}">
        <p14:creationId xmlns:p14="http://schemas.microsoft.com/office/powerpoint/2010/main" val="1500545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506190-B75F-4A39-8E5E-DA7513B1B6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DC28D3-0471-9507-834B-EC6AA8B63B8F}"/>
              </a:ext>
            </a:extLst>
          </p:cNvPr>
          <p:cNvSpPr>
            <a:spLocks noGrp="1"/>
          </p:cNvSpPr>
          <p:nvPr>
            <p:ph type="title"/>
          </p:nvPr>
        </p:nvSpPr>
        <p:spPr>
          <a:xfrm>
            <a:off x="5229509" y="795263"/>
            <a:ext cx="5847781" cy="1128200"/>
          </a:xfrm>
        </p:spPr>
        <p:txBody>
          <a:bodyPr anchor="b">
            <a:normAutofit/>
          </a:bodyPr>
          <a:lstStyle/>
          <a:p>
            <a:r>
              <a:rPr lang="en-ZA" sz="2800" u="sng" dirty="0"/>
              <a:t>End-to-End Automation</a:t>
            </a:r>
          </a:p>
        </p:txBody>
      </p:sp>
      <p:sp>
        <p:nvSpPr>
          <p:cNvPr id="16" name="Rectangle 15">
            <a:extLst>
              <a:ext uri="{FF2B5EF4-FFF2-40B4-BE49-F238E27FC236}">
                <a16:creationId xmlns:a16="http://schemas.microsoft.com/office/drawing/2014/main" id="{8587DE20-364E-4BE1-B603-E62BB8A63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4355787" cy="685800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51960" y="0"/>
            <a:ext cx="794004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pic>
        <p:nvPicPr>
          <p:cNvPr id="7" name="Picture 6">
            <a:extLst>
              <a:ext uri="{FF2B5EF4-FFF2-40B4-BE49-F238E27FC236}">
                <a16:creationId xmlns:a16="http://schemas.microsoft.com/office/drawing/2014/main" id="{C127BEAC-9991-ADFD-CE68-1C869B80FF4F}"/>
              </a:ext>
            </a:extLst>
          </p:cNvPr>
          <p:cNvPicPr>
            <a:picLocks noChangeAspect="1"/>
          </p:cNvPicPr>
          <p:nvPr/>
        </p:nvPicPr>
        <p:blipFill>
          <a:blip r:embed="rId2"/>
          <a:stretch>
            <a:fillRect/>
          </a:stretch>
        </p:blipFill>
        <p:spPr>
          <a:xfrm>
            <a:off x="372401" y="2364027"/>
            <a:ext cx="2777087" cy="1907923"/>
          </a:xfrm>
          <a:prstGeom prst="rect">
            <a:avLst/>
          </a:prstGeom>
        </p:spPr>
      </p:pic>
      <p:pic>
        <p:nvPicPr>
          <p:cNvPr id="5" name="Picture 4">
            <a:extLst>
              <a:ext uri="{FF2B5EF4-FFF2-40B4-BE49-F238E27FC236}">
                <a16:creationId xmlns:a16="http://schemas.microsoft.com/office/drawing/2014/main" id="{13E6D4D8-2B81-67E1-2153-2239DF912C0E}"/>
              </a:ext>
            </a:extLst>
          </p:cNvPr>
          <p:cNvPicPr>
            <a:picLocks noChangeAspect="1"/>
          </p:cNvPicPr>
          <p:nvPr/>
        </p:nvPicPr>
        <p:blipFill>
          <a:blip r:embed="rId3"/>
          <a:stretch>
            <a:fillRect/>
          </a:stretch>
        </p:blipFill>
        <p:spPr>
          <a:xfrm>
            <a:off x="372401" y="304069"/>
            <a:ext cx="3411916" cy="1907923"/>
          </a:xfrm>
          <a:prstGeom prst="rect">
            <a:avLst/>
          </a:prstGeom>
        </p:spPr>
      </p:pic>
      <p:pic>
        <p:nvPicPr>
          <p:cNvPr id="9" name="Picture 8">
            <a:extLst>
              <a:ext uri="{FF2B5EF4-FFF2-40B4-BE49-F238E27FC236}">
                <a16:creationId xmlns:a16="http://schemas.microsoft.com/office/drawing/2014/main" id="{49D37145-49F0-8711-70A1-C38FF2FBE529}"/>
              </a:ext>
            </a:extLst>
          </p:cNvPr>
          <p:cNvPicPr>
            <a:picLocks noChangeAspect="1"/>
          </p:cNvPicPr>
          <p:nvPr/>
        </p:nvPicPr>
        <p:blipFill>
          <a:blip r:embed="rId4"/>
          <a:stretch>
            <a:fillRect/>
          </a:stretch>
        </p:blipFill>
        <p:spPr>
          <a:xfrm>
            <a:off x="373379" y="4423985"/>
            <a:ext cx="3516909" cy="1907923"/>
          </a:xfrm>
          <a:prstGeom prst="rect">
            <a:avLst/>
          </a:prstGeom>
        </p:spPr>
      </p:pic>
      <p:sp>
        <p:nvSpPr>
          <p:cNvPr id="3" name="Content Placeholder 2">
            <a:extLst>
              <a:ext uri="{FF2B5EF4-FFF2-40B4-BE49-F238E27FC236}">
                <a16:creationId xmlns:a16="http://schemas.microsoft.com/office/drawing/2014/main" id="{C3A1F530-A29C-3A73-F715-1B3F8889AF99}"/>
              </a:ext>
            </a:extLst>
          </p:cNvPr>
          <p:cNvSpPr>
            <a:spLocks noGrp="1"/>
          </p:cNvSpPr>
          <p:nvPr>
            <p:ph idx="1"/>
          </p:nvPr>
        </p:nvSpPr>
        <p:spPr>
          <a:xfrm>
            <a:off x="5229510" y="2127252"/>
            <a:ext cx="5847780" cy="3699824"/>
          </a:xfrm>
        </p:spPr>
        <p:txBody>
          <a:bodyPr anchor="t">
            <a:normAutofit/>
          </a:bodyPr>
          <a:lstStyle/>
          <a:p>
            <a:pPr marL="0" indent="0">
              <a:buNone/>
            </a:pPr>
            <a:r>
              <a:rPr lang="en-ZA" sz="1400" dirty="0"/>
              <a:t>This system automates the entire claim system life cycle improving the efficiency, accuracy and tracking of the claims process.</a:t>
            </a:r>
          </a:p>
          <a:p>
            <a:pPr marL="0" indent="0">
              <a:buNone/>
            </a:pPr>
            <a:r>
              <a:rPr lang="en-ZA" sz="1400" dirty="0"/>
              <a:t>This starts as : </a:t>
            </a:r>
          </a:p>
          <a:p>
            <a:pPr marL="0" indent="0">
              <a:buNone/>
            </a:pPr>
            <a:r>
              <a:rPr lang="en-ZA" sz="1400" dirty="0"/>
              <a:t>- A claim is first submitted by a lecturer.</a:t>
            </a:r>
          </a:p>
          <a:p>
            <a:pPr marL="0" indent="0">
              <a:buNone/>
            </a:pPr>
            <a:r>
              <a:rPr lang="en-ZA" sz="1400" dirty="0"/>
              <a:t>- This is then verified and reviewed by the programme coordinator</a:t>
            </a:r>
          </a:p>
          <a:p>
            <a:pPr marL="0" indent="0">
              <a:buNone/>
            </a:pPr>
            <a:r>
              <a:rPr lang="en-ZA" sz="1400" dirty="0"/>
              <a:t>- It then goes to the manager for final approval and reviewal.</a:t>
            </a:r>
          </a:p>
          <a:p>
            <a:pPr marL="0" indent="0">
              <a:buNone/>
            </a:pPr>
            <a:r>
              <a:rPr lang="en-ZA" sz="1400" dirty="0"/>
              <a:t>- HR then finalizes the process.</a:t>
            </a:r>
          </a:p>
        </p:txBody>
      </p:sp>
      <p:sp>
        <p:nvSpPr>
          <p:cNvPr id="20" name="Rectangle 19">
            <a:extLst>
              <a:ext uri="{FF2B5EF4-FFF2-40B4-BE49-F238E27FC236}">
                <a16:creationId xmlns:a16="http://schemas.microsoft.com/office/drawing/2014/main" id="{FBCA7CDC-1A5B-46A3-ACC6-B4038FE541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51960" y="6793992"/>
            <a:ext cx="794004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 name="TextBox 9">
            <a:extLst>
              <a:ext uri="{FF2B5EF4-FFF2-40B4-BE49-F238E27FC236}">
                <a16:creationId xmlns:a16="http://schemas.microsoft.com/office/drawing/2014/main" id="{28FD3142-E744-9266-F427-08FFD8B9B585}"/>
              </a:ext>
            </a:extLst>
          </p:cNvPr>
          <p:cNvSpPr txBox="1"/>
          <p:nvPr/>
        </p:nvSpPr>
        <p:spPr>
          <a:xfrm>
            <a:off x="2295529" y="1837935"/>
            <a:ext cx="1373505" cy="369332"/>
          </a:xfrm>
          <a:prstGeom prst="rect">
            <a:avLst/>
          </a:prstGeom>
          <a:noFill/>
        </p:spPr>
        <p:txBody>
          <a:bodyPr wrap="square" rtlCol="0">
            <a:spAutoFit/>
          </a:bodyPr>
          <a:lstStyle/>
          <a:p>
            <a:r>
              <a:rPr lang="en-ZA" dirty="0">
                <a:solidFill>
                  <a:schemeClr val="bg1"/>
                </a:solidFill>
              </a:rPr>
              <a:t>Coordinator</a:t>
            </a:r>
          </a:p>
        </p:txBody>
      </p:sp>
      <p:sp>
        <p:nvSpPr>
          <p:cNvPr id="11" name="TextBox 10">
            <a:extLst>
              <a:ext uri="{FF2B5EF4-FFF2-40B4-BE49-F238E27FC236}">
                <a16:creationId xmlns:a16="http://schemas.microsoft.com/office/drawing/2014/main" id="{1AA2E69E-69BA-5C50-BC73-8E549DCDB599}"/>
              </a:ext>
            </a:extLst>
          </p:cNvPr>
          <p:cNvSpPr txBox="1"/>
          <p:nvPr/>
        </p:nvSpPr>
        <p:spPr>
          <a:xfrm>
            <a:off x="2131832" y="3897893"/>
            <a:ext cx="1373505" cy="369332"/>
          </a:xfrm>
          <a:prstGeom prst="rect">
            <a:avLst/>
          </a:prstGeom>
          <a:noFill/>
        </p:spPr>
        <p:txBody>
          <a:bodyPr wrap="square" rtlCol="0">
            <a:spAutoFit/>
          </a:bodyPr>
          <a:lstStyle/>
          <a:p>
            <a:r>
              <a:rPr lang="en-ZA" dirty="0">
                <a:solidFill>
                  <a:schemeClr val="bg1"/>
                </a:solidFill>
              </a:rPr>
              <a:t>Manager</a:t>
            </a:r>
          </a:p>
        </p:txBody>
      </p:sp>
      <p:sp>
        <p:nvSpPr>
          <p:cNvPr id="12" name="TextBox 11">
            <a:extLst>
              <a:ext uri="{FF2B5EF4-FFF2-40B4-BE49-F238E27FC236}">
                <a16:creationId xmlns:a16="http://schemas.microsoft.com/office/drawing/2014/main" id="{C435E757-317B-32A1-C091-4BEB54E51FEB}"/>
              </a:ext>
            </a:extLst>
          </p:cNvPr>
          <p:cNvSpPr txBox="1"/>
          <p:nvPr/>
        </p:nvSpPr>
        <p:spPr>
          <a:xfrm>
            <a:off x="3239567" y="5962576"/>
            <a:ext cx="588980" cy="369332"/>
          </a:xfrm>
          <a:prstGeom prst="rect">
            <a:avLst/>
          </a:prstGeom>
          <a:noFill/>
        </p:spPr>
        <p:txBody>
          <a:bodyPr wrap="square" rtlCol="0">
            <a:spAutoFit/>
          </a:bodyPr>
          <a:lstStyle/>
          <a:p>
            <a:r>
              <a:rPr lang="en-ZA" dirty="0">
                <a:solidFill>
                  <a:schemeClr val="bg1"/>
                </a:solidFill>
              </a:rPr>
              <a:t>HR</a:t>
            </a:r>
          </a:p>
        </p:txBody>
      </p:sp>
    </p:spTree>
    <p:extLst>
      <p:ext uri="{BB962C8B-B14F-4D97-AF65-F5344CB8AC3E}">
        <p14:creationId xmlns:p14="http://schemas.microsoft.com/office/powerpoint/2010/main" val="935298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9" name="Cloud 18">
            <a:extLst>
              <a:ext uri="{FF2B5EF4-FFF2-40B4-BE49-F238E27FC236}">
                <a16:creationId xmlns:a16="http://schemas.microsoft.com/office/drawing/2014/main" id="{16310CBD-11A8-8DA7-2B27-503BF9442573}"/>
              </a:ext>
            </a:extLst>
          </p:cNvPr>
          <p:cNvSpPr/>
          <p:nvPr/>
        </p:nvSpPr>
        <p:spPr>
          <a:xfrm>
            <a:off x="7088567" y="2803850"/>
            <a:ext cx="5084425" cy="3847993"/>
          </a:xfrm>
          <a:prstGeom prst="cloud">
            <a:avLst/>
          </a:prstGeom>
          <a:solidFill>
            <a:schemeClr val="bg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 name="Title 1">
            <a:extLst>
              <a:ext uri="{FF2B5EF4-FFF2-40B4-BE49-F238E27FC236}">
                <a16:creationId xmlns:a16="http://schemas.microsoft.com/office/drawing/2014/main" id="{87165B96-23BD-14CC-D731-A380D06EA9A2}"/>
              </a:ext>
            </a:extLst>
          </p:cNvPr>
          <p:cNvSpPr>
            <a:spLocks noGrp="1"/>
          </p:cNvSpPr>
          <p:nvPr>
            <p:ph type="title"/>
          </p:nvPr>
        </p:nvSpPr>
        <p:spPr/>
        <p:txBody>
          <a:bodyPr/>
          <a:lstStyle/>
          <a:p>
            <a:r>
              <a:rPr lang="en-ZA" u="sng" dirty="0">
                <a:solidFill>
                  <a:schemeClr val="bg1"/>
                </a:solidFill>
              </a:rPr>
              <a:t>Workflow Structure</a:t>
            </a:r>
          </a:p>
        </p:txBody>
      </p:sp>
      <p:sp>
        <p:nvSpPr>
          <p:cNvPr id="3" name="Content Placeholder 2">
            <a:extLst>
              <a:ext uri="{FF2B5EF4-FFF2-40B4-BE49-F238E27FC236}">
                <a16:creationId xmlns:a16="http://schemas.microsoft.com/office/drawing/2014/main" id="{B8E9DFE0-D1A1-C77F-CB84-AAB05D81A657}"/>
              </a:ext>
            </a:extLst>
          </p:cNvPr>
          <p:cNvSpPr>
            <a:spLocks noGrp="1"/>
          </p:cNvSpPr>
          <p:nvPr>
            <p:ph idx="1"/>
          </p:nvPr>
        </p:nvSpPr>
        <p:spPr>
          <a:xfrm>
            <a:off x="320813" y="1478287"/>
            <a:ext cx="10515600" cy="1808937"/>
          </a:xfrm>
        </p:spPr>
        <p:txBody>
          <a:bodyPr/>
          <a:lstStyle/>
          <a:p>
            <a:r>
              <a:rPr lang="en-ZA" dirty="0">
                <a:solidFill>
                  <a:schemeClr val="bg1"/>
                </a:solidFill>
              </a:rPr>
              <a:t>This ensures that after each step the claims moves through, the status is updated accordingly. This ensures accountability and transparency, preventing any unauthorized approvals while also creating a clear audit trail.</a:t>
            </a:r>
          </a:p>
        </p:txBody>
      </p:sp>
      <p:sp>
        <p:nvSpPr>
          <p:cNvPr id="18" name="Cloud 17">
            <a:extLst>
              <a:ext uri="{FF2B5EF4-FFF2-40B4-BE49-F238E27FC236}">
                <a16:creationId xmlns:a16="http://schemas.microsoft.com/office/drawing/2014/main" id="{3BECD48D-B29D-652D-BD85-2E0E660E31AE}"/>
              </a:ext>
            </a:extLst>
          </p:cNvPr>
          <p:cNvSpPr/>
          <p:nvPr/>
        </p:nvSpPr>
        <p:spPr>
          <a:xfrm>
            <a:off x="2043506" y="3639068"/>
            <a:ext cx="4703768" cy="3218932"/>
          </a:xfrm>
          <a:prstGeom prst="cloud">
            <a:avLst/>
          </a:prstGeom>
          <a:solidFill>
            <a:schemeClr val="bg1">
              <a:alpha val="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5" name="Picture 4">
            <a:extLst>
              <a:ext uri="{FF2B5EF4-FFF2-40B4-BE49-F238E27FC236}">
                <a16:creationId xmlns:a16="http://schemas.microsoft.com/office/drawing/2014/main" id="{EE718549-8619-B21F-E22E-7339E1490871}"/>
              </a:ext>
            </a:extLst>
          </p:cNvPr>
          <p:cNvPicPr>
            <a:picLocks noChangeAspect="1"/>
          </p:cNvPicPr>
          <p:nvPr/>
        </p:nvPicPr>
        <p:blipFill>
          <a:blip r:embed="rId2"/>
          <a:stretch>
            <a:fillRect/>
          </a:stretch>
        </p:blipFill>
        <p:spPr>
          <a:xfrm>
            <a:off x="320813" y="3639068"/>
            <a:ext cx="2878472" cy="260862"/>
          </a:xfrm>
          <a:prstGeom prst="rect">
            <a:avLst/>
          </a:prstGeom>
        </p:spPr>
      </p:pic>
      <p:pic>
        <p:nvPicPr>
          <p:cNvPr id="7" name="Picture 6">
            <a:extLst>
              <a:ext uri="{FF2B5EF4-FFF2-40B4-BE49-F238E27FC236}">
                <a16:creationId xmlns:a16="http://schemas.microsoft.com/office/drawing/2014/main" id="{1C68ACBE-F8C7-7B41-4687-958C985BA7EE}"/>
              </a:ext>
            </a:extLst>
          </p:cNvPr>
          <p:cNvPicPr>
            <a:picLocks noChangeAspect="1"/>
          </p:cNvPicPr>
          <p:nvPr/>
        </p:nvPicPr>
        <p:blipFill>
          <a:blip r:embed="rId3"/>
          <a:stretch>
            <a:fillRect/>
          </a:stretch>
        </p:blipFill>
        <p:spPr>
          <a:xfrm>
            <a:off x="2384799" y="5357553"/>
            <a:ext cx="3295565" cy="938240"/>
          </a:xfrm>
          <a:prstGeom prst="rect">
            <a:avLst/>
          </a:prstGeom>
        </p:spPr>
      </p:pic>
      <p:pic>
        <p:nvPicPr>
          <p:cNvPr id="9" name="Picture 8">
            <a:extLst>
              <a:ext uri="{FF2B5EF4-FFF2-40B4-BE49-F238E27FC236}">
                <a16:creationId xmlns:a16="http://schemas.microsoft.com/office/drawing/2014/main" id="{A71BBB2E-FFE8-D3E2-6F1D-F2F7DEE41D83}"/>
              </a:ext>
            </a:extLst>
          </p:cNvPr>
          <p:cNvPicPr>
            <a:picLocks noChangeAspect="1"/>
          </p:cNvPicPr>
          <p:nvPr/>
        </p:nvPicPr>
        <p:blipFill>
          <a:blip r:embed="rId4"/>
          <a:stretch>
            <a:fillRect/>
          </a:stretch>
        </p:blipFill>
        <p:spPr>
          <a:xfrm>
            <a:off x="7796993" y="4554477"/>
            <a:ext cx="3380713" cy="1084908"/>
          </a:xfrm>
          <a:prstGeom prst="rect">
            <a:avLst/>
          </a:prstGeom>
        </p:spPr>
      </p:pic>
      <p:pic>
        <p:nvPicPr>
          <p:cNvPr id="11" name="Picture 10">
            <a:extLst>
              <a:ext uri="{FF2B5EF4-FFF2-40B4-BE49-F238E27FC236}">
                <a16:creationId xmlns:a16="http://schemas.microsoft.com/office/drawing/2014/main" id="{5B6FD15B-D2A5-587E-72B3-2823961CF1D5}"/>
              </a:ext>
            </a:extLst>
          </p:cNvPr>
          <p:cNvPicPr>
            <a:picLocks noChangeAspect="1"/>
          </p:cNvPicPr>
          <p:nvPr/>
        </p:nvPicPr>
        <p:blipFill>
          <a:blip r:embed="rId5"/>
          <a:stretch>
            <a:fillRect/>
          </a:stretch>
        </p:blipFill>
        <p:spPr>
          <a:xfrm>
            <a:off x="8101514" y="3227045"/>
            <a:ext cx="3076192" cy="1084907"/>
          </a:xfrm>
          <a:prstGeom prst="rect">
            <a:avLst/>
          </a:prstGeom>
        </p:spPr>
      </p:pic>
      <p:pic>
        <p:nvPicPr>
          <p:cNvPr id="13" name="Picture 12">
            <a:extLst>
              <a:ext uri="{FF2B5EF4-FFF2-40B4-BE49-F238E27FC236}">
                <a16:creationId xmlns:a16="http://schemas.microsoft.com/office/drawing/2014/main" id="{E47EE37D-9004-12FC-90DD-E50AEFDC6BBD}"/>
              </a:ext>
            </a:extLst>
          </p:cNvPr>
          <p:cNvPicPr>
            <a:picLocks noChangeAspect="1"/>
          </p:cNvPicPr>
          <p:nvPr/>
        </p:nvPicPr>
        <p:blipFill>
          <a:blip r:embed="rId6"/>
          <a:stretch>
            <a:fillRect/>
          </a:stretch>
        </p:blipFill>
        <p:spPr>
          <a:xfrm>
            <a:off x="2977168" y="4141098"/>
            <a:ext cx="3048425" cy="1084672"/>
          </a:xfrm>
          <a:prstGeom prst="rect">
            <a:avLst/>
          </a:prstGeom>
        </p:spPr>
      </p:pic>
      <p:cxnSp>
        <p:nvCxnSpPr>
          <p:cNvPr id="21" name="Connector: Curved 20">
            <a:extLst>
              <a:ext uri="{FF2B5EF4-FFF2-40B4-BE49-F238E27FC236}">
                <a16:creationId xmlns:a16="http://schemas.microsoft.com/office/drawing/2014/main" id="{F5A8A3FD-63B1-ECCD-0A9B-562AABEEFE5B}"/>
              </a:ext>
            </a:extLst>
          </p:cNvPr>
          <p:cNvCxnSpPr>
            <a:cxnSpLocks/>
            <a:endCxn id="18" idx="2"/>
          </p:cNvCxnSpPr>
          <p:nvPr/>
        </p:nvCxnSpPr>
        <p:spPr>
          <a:xfrm rot="16200000" flipH="1">
            <a:off x="959728" y="4150166"/>
            <a:ext cx="1348604" cy="848132"/>
          </a:xfrm>
          <a:prstGeom prst="curvedConnector2">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BA17EEF4-ABAC-B244-53B9-04F03EFCD624}"/>
              </a:ext>
            </a:extLst>
          </p:cNvPr>
          <p:cNvSpPr txBox="1"/>
          <p:nvPr/>
        </p:nvSpPr>
        <p:spPr>
          <a:xfrm>
            <a:off x="235836" y="3366852"/>
            <a:ext cx="3048425" cy="276999"/>
          </a:xfrm>
          <a:prstGeom prst="rect">
            <a:avLst/>
          </a:prstGeom>
          <a:noFill/>
        </p:spPr>
        <p:txBody>
          <a:bodyPr wrap="square" rtlCol="0">
            <a:spAutoFit/>
          </a:bodyPr>
          <a:lstStyle/>
          <a:p>
            <a:r>
              <a:rPr lang="en-ZA" sz="1200" dirty="0">
                <a:solidFill>
                  <a:schemeClr val="bg1"/>
                </a:solidFill>
              </a:rPr>
              <a:t>Lecturer submits a claims</a:t>
            </a:r>
          </a:p>
        </p:txBody>
      </p:sp>
      <p:sp>
        <p:nvSpPr>
          <p:cNvPr id="24" name="TextBox 23">
            <a:extLst>
              <a:ext uri="{FF2B5EF4-FFF2-40B4-BE49-F238E27FC236}">
                <a16:creationId xmlns:a16="http://schemas.microsoft.com/office/drawing/2014/main" id="{FFC7512E-3EA1-3845-F442-95F3A24B546F}"/>
              </a:ext>
            </a:extLst>
          </p:cNvPr>
          <p:cNvSpPr txBox="1"/>
          <p:nvPr/>
        </p:nvSpPr>
        <p:spPr>
          <a:xfrm>
            <a:off x="3698849" y="3843551"/>
            <a:ext cx="3048425" cy="276999"/>
          </a:xfrm>
          <a:prstGeom prst="rect">
            <a:avLst/>
          </a:prstGeom>
          <a:noFill/>
        </p:spPr>
        <p:txBody>
          <a:bodyPr wrap="square" rtlCol="0">
            <a:spAutoFit/>
          </a:bodyPr>
          <a:lstStyle/>
          <a:p>
            <a:r>
              <a:rPr lang="en-ZA" sz="1200" dirty="0">
                <a:solidFill>
                  <a:schemeClr val="bg1"/>
                </a:solidFill>
              </a:rPr>
              <a:t>Coordinator Verifies/Declines</a:t>
            </a:r>
          </a:p>
        </p:txBody>
      </p:sp>
      <p:sp>
        <p:nvSpPr>
          <p:cNvPr id="25" name="TextBox 24">
            <a:extLst>
              <a:ext uri="{FF2B5EF4-FFF2-40B4-BE49-F238E27FC236}">
                <a16:creationId xmlns:a16="http://schemas.microsoft.com/office/drawing/2014/main" id="{890F2AFB-388C-D561-F365-9B0CD0B2DD48}"/>
              </a:ext>
            </a:extLst>
          </p:cNvPr>
          <p:cNvSpPr txBox="1"/>
          <p:nvPr/>
        </p:nvSpPr>
        <p:spPr>
          <a:xfrm>
            <a:off x="8129281" y="5826673"/>
            <a:ext cx="3048425" cy="276999"/>
          </a:xfrm>
          <a:prstGeom prst="rect">
            <a:avLst/>
          </a:prstGeom>
          <a:noFill/>
        </p:spPr>
        <p:txBody>
          <a:bodyPr wrap="square" rtlCol="0">
            <a:spAutoFit/>
          </a:bodyPr>
          <a:lstStyle/>
          <a:p>
            <a:r>
              <a:rPr lang="en-ZA" sz="1200" dirty="0">
                <a:solidFill>
                  <a:schemeClr val="bg1"/>
                </a:solidFill>
              </a:rPr>
              <a:t>Manager Verifies/Declines</a:t>
            </a:r>
          </a:p>
        </p:txBody>
      </p:sp>
      <p:cxnSp>
        <p:nvCxnSpPr>
          <p:cNvPr id="29" name="Connector: Curved 28">
            <a:extLst>
              <a:ext uri="{FF2B5EF4-FFF2-40B4-BE49-F238E27FC236}">
                <a16:creationId xmlns:a16="http://schemas.microsoft.com/office/drawing/2014/main" id="{C16AC9D2-C5EB-C30A-1F45-4BBA57E92B93}"/>
              </a:ext>
            </a:extLst>
          </p:cNvPr>
          <p:cNvCxnSpPr>
            <a:cxnSpLocks/>
          </p:cNvCxnSpPr>
          <p:nvPr/>
        </p:nvCxnSpPr>
        <p:spPr>
          <a:xfrm>
            <a:off x="6693994" y="4904509"/>
            <a:ext cx="501133" cy="453044"/>
          </a:xfrm>
          <a:prstGeom prst="curvedConnector3">
            <a:avLst/>
          </a:prstGeom>
          <a:ln>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309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1293230-B0F6-45B1-96D1-13D18E2429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74BAD7-F0FC-4719-A31F-1ABDB621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71BCBFD-20C6-89FD-5CA9-EB4386A9B2D4}"/>
              </a:ext>
            </a:extLst>
          </p:cNvPr>
          <p:cNvSpPr>
            <a:spLocks noGrp="1"/>
          </p:cNvSpPr>
          <p:nvPr>
            <p:ph type="title"/>
          </p:nvPr>
        </p:nvSpPr>
        <p:spPr>
          <a:xfrm>
            <a:off x="1137034" y="609599"/>
            <a:ext cx="6596455" cy="1322888"/>
          </a:xfrm>
        </p:spPr>
        <p:txBody>
          <a:bodyPr>
            <a:normAutofit/>
          </a:bodyPr>
          <a:lstStyle/>
          <a:p>
            <a:r>
              <a:rPr lang="en-ZA" u="sng" dirty="0"/>
              <a:t>Role-Based Access</a:t>
            </a:r>
          </a:p>
        </p:txBody>
      </p:sp>
      <p:pic>
        <p:nvPicPr>
          <p:cNvPr id="7" name="Picture 6">
            <a:extLst>
              <a:ext uri="{FF2B5EF4-FFF2-40B4-BE49-F238E27FC236}">
                <a16:creationId xmlns:a16="http://schemas.microsoft.com/office/drawing/2014/main" id="{6F57FCC5-C11F-4CE0-8F17-960F5F5A85C3}"/>
              </a:ext>
            </a:extLst>
          </p:cNvPr>
          <p:cNvPicPr>
            <a:picLocks noChangeAspect="1"/>
          </p:cNvPicPr>
          <p:nvPr/>
        </p:nvPicPr>
        <p:blipFill>
          <a:blip r:embed="rId2"/>
          <a:stretch>
            <a:fillRect/>
          </a:stretch>
        </p:blipFill>
        <p:spPr>
          <a:xfrm>
            <a:off x="8570068" y="586945"/>
            <a:ext cx="2930808" cy="1106379"/>
          </a:xfrm>
          <a:prstGeom prst="rect">
            <a:avLst/>
          </a:prstGeom>
        </p:spPr>
      </p:pic>
      <p:sp>
        <p:nvSpPr>
          <p:cNvPr id="3" name="Content Placeholder 2">
            <a:extLst>
              <a:ext uri="{FF2B5EF4-FFF2-40B4-BE49-F238E27FC236}">
                <a16:creationId xmlns:a16="http://schemas.microsoft.com/office/drawing/2014/main" id="{3CED4397-3077-B78A-2604-EE2B4F53F14B}"/>
              </a:ext>
            </a:extLst>
          </p:cNvPr>
          <p:cNvSpPr>
            <a:spLocks noGrp="1"/>
          </p:cNvSpPr>
          <p:nvPr>
            <p:ph idx="1"/>
          </p:nvPr>
        </p:nvSpPr>
        <p:spPr>
          <a:xfrm>
            <a:off x="1137034" y="2194101"/>
            <a:ext cx="6433805" cy="3908585"/>
          </a:xfrm>
        </p:spPr>
        <p:txBody>
          <a:bodyPr>
            <a:normAutofit/>
          </a:bodyPr>
          <a:lstStyle/>
          <a:p>
            <a:r>
              <a:rPr lang="en-ZA" sz="2000" dirty="0"/>
              <a:t>This is done using session based authentication. Ensuring that users only features based on their assigned role. Such as:</a:t>
            </a:r>
          </a:p>
          <a:p>
            <a:r>
              <a:rPr lang="en-ZA" sz="2000" dirty="0"/>
              <a:t>Lecturer </a:t>
            </a:r>
            <a:r>
              <a:rPr lang="en-ZA" sz="2000" dirty="0">
                <a:sym typeface="Wingdings" panose="05000000000000000000" pitchFamily="2" charset="2"/>
              </a:rPr>
              <a:t> Submit Claims</a:t>
            </a:r>
          </a:p>
          <a:p>
            <a:r>
              <a:rPr lang="en-ZA" sz="2000" dirty="0">
                <a:sym typeface="Wingdings" panose="05000000000000000000" pitchFamily="2" charset="2"/>
              </a:rPr>
              <a:t>Coordinator  Verify Claims</a:t>
            </a:r>
          </a:p>
          <a:p>
            <a:r>
              <a:rPr lang="en-ZA" sz="2000" dirty="0">
                <a:sym typeface="Wingdings" panose="05000000000000000000" pitchFamily="2" charset="2"/>
              </a:rPr>
              <a:t>Manager  Approve Claims</a:t>
            </a:r>
          </a:p>
          <a:p>
            <a:r>
              <a:rPr lang="en-ZA" sz="2000" dirty="0">
                <a:sym typeface="Wingdings" panose="05000000000000000000" pitchFamily="2" charset="2"/>
              </a:rPr>
              <a:t>HR  Add Users, Process and Generate reports</a:t>
            </a:r>
            <a:endParaRPr lang="en-ZA" sz="2000" dirty="0"/>
          </a:p>
        </p:txBody>
      </p:sp>
      <p:pic>
        <p:nvPicPr>
          <p:cNvPr id="5" name="Picture 4">
            <a:extLst>
              <a:ext uri="{FF2B5EF4-FFF2-40B4-BE49-F238E27FC236}">
                <a16:creationId xmlns:a16="http://schemas.microsoft.com/office/drawing/2014/main" id="{EAF7CB1F-F941-C4E1-1C61-673101FA6A17}"/>
              </a:ext>
            </a:extLst>
          </p:cNvPr>
          <p:cNvPicPr>
            <a:picLocks noChangeAspect="1"/>
          </p:cNvPicPr>
          <p:nvPr/>
        </p:nvPicPr>
        <p:blipFill>
          <a:blip r:embed="rId3"/>
          <a:stretch>
            <a:fillRect/>
          </a:stretch>
        </p:blipFill>
        <p:spPr>
          <a:xfrm>
            <a:off x="8748215" y="2182651"/>
            <a:ext cx="2752661" cy="956549"/>
          </a:xfrm>
          <a:prstGeom prst="rect">
            <a:avLst/>
          </a:prstGeom>
        </p:spPr>
      </p:pic>
      <p:pic>
        <p:nvPicPr>
          <p:cNvPr id="9" name="Picture 8">
            <a:extLst>
              <a:ext uri="{FF2B5EF4-FFF2-40B4-BE49-F238E27FC236}">
                <a16:creationId xmlns:a16="http://schemas.microsoft.com/office/drawing/2014/main" id="{F46AD1CC-5FA7-74E3-24A6-845A35914D2E}"/>
              </a:ext>
            </a:extLst>
          </p:cNvPr>
          <p:cNvPicPr>
            <a:picLocks noChangeAspect="1"/>
          </p:cNvPicPr>
          <p:nvPr/>
        </p:nvPicPr>
        <p:blipFill>
          <a:blip r:embed="rId4"/>
          <a:stretch>
            <a:fillRect/>
          </a:stretch>
        </p:blipFill>
        <p:spPr>
          <a:xfrm>
            <a:off x="8441161" y="3679315"/>
            <a:ext cx="3059715" cy="864369"/>
          </a:xfrm>
          <a:prstGeom prst="rect">
            <a:avLst/>
          </a:prstGeom>
        </p:spPr>
      </p:pic>
      <p:pic>
        <p:nvPicPr>
          <p:cNvPr id="11" name="Picture 10">
            <a:extLst>
              <a:ext uri="{FF2B5EF4-FFF2-40B4-BE49-F238E27FC236}">
                <a16:creationId xmlns:a16="http://schemas.microsoft.com/office/drawing/2014/main" id="{1A40AF05-8925-4108-63C6-C3BDBA88856D}"/>
              </a:ext>
            </a:extLst>
          </p:cNvPr>
          <p:cNvPicPr>
            <a:picLocks noChangeAspect="1"/>
          </p:cNvPicPr>
          <p:nvPr/>
        </p:nvPicPr>
        <p:blipFill>
          <a:blip r:embed="rId5"/>
          <a:stretch>
            <a:fillRect/>
          </a:stretch>
        </p:blipFill>
        <p:spPr>
          <a:xfrm>
            <a:off x="8299402" y="5228122"/>
            <a:ext cx="3201474" cy="736338"/>
          </a:xfrm>
          <a:prstGeom prst="rect">
            <a:avLst/>
          </a:prstGeom>
        </p:spPr>
      </p:pic>
    </p:spTree>
    <p:extLst>
      <p:ext uri="{BB962C8B-B14F-4D97-AF65-F5344CB8AC3E}">
        <p14:creationId xmlns:p14="http://schemas.microsoft.com/office/powerpoint/2010/main" val="1411048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14FC669-3170-CEC8-B3C5-FF492C8D22D1}"/>
              </a:ext>
            </a:extLst>
          </p:cNvPr>
          <p:cNvSpPr>
            <a:spLocks noGrp="1"/>
          </p:cNvSpPr>
          <p:nvPr>
            <p:ph type="title"/>
          </p:nvPr>
        </p:nvSpPr>
        <p:spPr>
          <a:xfrm>
            <a:off x="1137034" y="609600"/>
            <a:ext cx="4784796" cy="1330840"/>
          </a:xfrm>
        </p:spPr>
        <p:txBody>
          <a:bodyPr>
            <a:normAutofit/>
          </a:bodyPr>
          <a:lstStyle/>
          <a:p>
            <a:r>
              <a:rPr lang="en-ZA" u="sng" dirty="0"/>
              <a:t>Database and Entity Framework</a:t>
            </a:r>
          </a:p>
        </p:txBody>
      </p:sp>
      <p:sp>
        <p:nvSpPr>
          <p:cNvPr id="3" name="Content Placeholder 2">
            <a:extLst>
              <a:ext uri="{FF2B5EF4-FFF2-40B4-BE49-F238E27FC236}">
                <a16:creationId xmlns:a16="http://schemas.microsoft.com/office/drawing/2014/main" id="{7EC83BD7-8EC8-11FE-EFD7-10B30DEDC604}"/>
              </a:ext>
            </a:extLst>
          </p:cNvPr>
          <p:cNvSpPr>
            <a:spLocks noGrp="1"/>
          </p:cNvSpPr>
          <p:nvPr>
            <p:ph idx="1"/>
          </p:nvPr>
        </p:nvSpPr>
        <p:spPr>
          <a:xfrm>
            <a:off x="1137034" y="2194102"/>
            <a:ext cx="4438036" cy="3908585"/>
          </a:xfrm>
        </p:spPr>
        <p:txBody>
          <a:bodyPr>
            <a:normAutofit/>
          </a:bodyPr>
          <a:lstStyle/>
          <a:p>
            <a:r>
              <a:rPr lang="en-ZA" sz="2000" dirty="0"/>
              <a:t>Entity framework is used for all data interactions. This includes saving of claims, accounts and reviews. This then provides better data integrity, much cleaner code and a faster development</a:t>
            </a:r>
          </a:p>
        </p:txBody>
      </p:sp>
      <p:pic>
        <p:nvPicPr>
          <p:cNvPr id="5" name="Picture 4">
            <a:extLst>
              <a:ext uri="{FF2B5EF4-FFF2-40B4-BE49-F238E27FC236}">
                <a16:creationId xmlns:a16="http://schemas.microsoft.com/office/drawing/2014/main" id="{519C22A2-1371-BDEA-9B57-FA95E0F35DA4}"/>
              </a:ext>
            </a:extLst>
          </p:cNvPr>
          <p:cNvPicPr>
            <a:picLocks noChangeAspect="1"/>
          </p:cNvPicPr>
          <p:nvPr/>
        </p:nvPicPr>
        <p:blipFill>
          <a:blip r:embed="rId2"/>
          <a:stretch>
            <a:fillRect/>
          </a:stretch>
        </p:blipFill>
        <p:spPr>
          <a:xfrm>
            <a:off x="6880610" y="1426606"/>
            <a:ext cx="4737650" cy="4027002"/>
          </a:xfrm>
          <a:prstGeom prst="rect">
            <a:avLst/>
          </a:prstGeom>
        </p:spPr>
      </p:pic>
    </p:spTree>
    <p:extLst>
      <p:ext uri="{BB962C8B-B14F-4D97-AF65-F5344CB8AC3E}">
        <p14:creationId xmlns:p14="http://schemas.microsoft.com/office/powerpoint/2010/main" val="913679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D4CEFE-6340-423E-61AC-C62F84CEC552}"/>
              </a:ext>
            </a:extLst>
          </p:cNvPr>
          <p:cNvSpPr>
            <a:spLocks noGrp="1"/>
          </p:cNvSpPr>
          <p:nvPr>
            <p:ph type="title"/>
          </p:nvPr>
        </p:nvSpPr>
        <p:spPr>
          <a:xfrm>
            <a:off x="640080" y="329184"/>
            <a:ext cx="6894576" cy="1783080"/>
          </a:xfrm>
        </p:spPr>
        <p:txBody>
          <a:bodyPr anchor="b">
            <a:normAutofit/>
          </a:bodyPr>
          <a:lstStyle/>
          <a:p>
            <a:r>
              <a:rPr lang="en-ZA" sz="5400" dirty="0"/>
              <a:t>HR </a:t>
            </a:r>
            <a:r>
              <a:rPr lang="en-ZA" sz="5400" u="sng" dirty="0"/>
              <a:t>Reports</a:t>
            </a:r>
          </a:p>
        </p:txBody>
      </p:sp>
      <p:sp>
        <p:nvSpPr>
          <p:cNvPr id="1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D2A4A4C-B4D1-097A-23D2-1810E8DAB0EB}"/>
              </a:ext>
            </a:extLst>
          </p:cNvPr>
          <p:cNvSpPr>
            <a:spLocks noGrp="1"/>
          </p:cNvSpPr>
          <p:nvPr>
            <p:ph idx="1"/>
          </p:nvPr>
        </p:nvSpPr>
        <p:spPr>
          <a:xfrm>
            <a:off x="640080" y="2706624"/>
            <a:ext cx="6894576" cy="3483864"/>
          </a:xfrm>
        </p:spPr>
        <p:txBody>
          <a:bodyPr>
            <a:normAutofit/>
          </a:bodyPr>
          <a:lstStyle/>
          <a:p>
            <a:r>
              <a:rPr lang="en-ZA" sz="2200" dirty="0"/>
              <a:t>HR can generate automated summary reports using LINQ. In these reports it includes the lecturers details, their total hours worked, total payment and the list of all approved claims. There is then an option to convert this report into a downloadable pdf.</a:t>
            </a:r>
          </a:p>
        </p:txBody>
      </p:sp>
      <p:pic>
        <p:nvPicPr>
          <p:cNvPr id="7" name="Picture 6">
            <a:extLst>
              <a:ext uri="{FF2B5EF4-FFF2-40B4-BE49-F238E27FC236}">
                <a16:creationId xmlns:a16="http://schemas.microsoft.com/office/drawing/2014/main" id="{682D7450-DB04-37B1-52EB-E67AC07B2F8E}"/>
              </a:ext>
            </a:extLst>
          </p:cNvPr>
          <p:cNvPicPr>
            <a:picLocks noChangeAspect="1"/>
          </p:cNvPicPr>
          <p:nvPr/>
        </p:nvPicPr>
        <p:blipFill>
          <a:blip r:embed="rId2"/>
          <a:stretch>
            <a:fillRect/>
          </a:stretch>
        </p:blipFill>
        <p:spPr>
          <a:xfrm>
            <a:off x="8666171" y="329183"/>
            <a:ext cx="2409553" cy="3429969"/>
          </a:xfrm>
          <a:prstGeom prst="rect">
            <a:avLst/>
          </a:prstGeom>
        </p:spPr>
      </p:pic>
      <p:pic>
        <p:nvPicPr>
          <p:cNvPr id="5" name="Picture 4">
            <a:extLst>
              <a:ext uri="{FF2B5EF4-FFF2-40B4-BE49-F238E27FC236}">
                <a16:creationId xmlns:a16="http://schemas.microsoft.com/office/drawing/2014/main" id="{61A69CA8-B2C3-C3A7-BF96-5A6721ADFF64}"/>
              </a:ext>
            </a:extLst>
          </p:cNvPr>
          <p:cNvPicPr>
            <a:picLocks noChangeAspect="1"/>
          </p:cNvPicPr>
          <p:nvPr/>
        </p:nvPicPr>
        <p:blipFill>
          <a:blip r:embed="rId3"/>
          <a:stretch>
            <a:fillRect/>
          </a:stretch>
        </p:blipFill>
        <p:spPr>
          <a:xfrm>
            <a:off x="8453214" y="4079193"/>
            <a:ext cx="2817180" cy="2176272"/>
          </a:xfrm>
          <a:prstGeom prst="rect">
            <a:avLst/>
          </a:prstGeom>
        </p:spPr>
      </p:pic>
    </p:spTree>
    <p:extLst>
      <p:ext uri="{BB962C8B-B14F-4D97-AF65-F5344CB8AC3E}">
        <p14:creationId xmlns:p14="http://schemas.microsoft.com/office/powerpoint/2010/main" val="401363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BEA0E67-0EA0-F1F8-875E-5DB0F9E17754}"/>
              </a:ext>
            </a:extLst>
          </p:cNvPr>
          <p:cNvSpPr>
            <a:spLocks noGrp="1"/>
          </p:cNvSpPr>
          <p:nvPr>
            <p:ph type="title"/>
          </p:nvPr>
        </p:nvSpPr>
        <p:spPr>
          <a:xfrm>
            <a:off x="1137036" y="548640"/>
            <a:ext cx="9543405" cy="1188720"/>
          </a:xfrm>
        </p:spPr>
        <p:txBody>
          <a:bodyPr>
            <a:normAutofit/>
          </a:bodyPr>
          <a:lstStyle/>
          <a:p>
            <a:r>
              <a:rPr lang="en-ZA" u="sng">
                <a:solidFill>
                  <a:schemeClr val="tx1">
                    <a:lumMod val="85000"/>
                    <a:lumOff val="15000"/>
                  </a:schemeClr>
                </a:solidFill>
              </a:rPr>
              <a:t>Conclusion</a:t>
            </a:r>
          </a:p>
        </p:txBody>
      </p:sp>
      <p:sp>
        <p:nvSpPr>
          <p:cNvPr id="7" name="Content Placeholder 2">
            <a:extLst>
              <a:ext uri="{FF2B5EF4-FFF2-40B4-BE49-F238E27FC236}">
                <a16:creationId xmlns:a16="http://schemas.microsoft.com/office/drawing/2014/main" id="{FD6CDED5-40F8-B467-855A-BE546181E2F9}"/>
              </a:ext>
            </a:extLst>
          </p:cNvPr>
          <p:cNvSpPr>
            <a:spLocks noGrp="1"/>
          </p:cNvSpPr>
          <p:nvPr>
            <p:ph idx="1"/>
          </p:nvPr>
        </p:nvSpPr>
        <p:spPr>
          <a:xfrm>
            <a:off x="1957987" y="2431765"/>
            <a:ext cx="8276026" cy="3320031"/>
          </a:xfrm>
        </p:spPr>
        <p:txBody>
          <a:bodyPr anchor="ctr">
            <a:normAutofit/>
          </a:bodyPr>
          <a:lstStyle/>
          <a:p>
            <a:r>
              <a:rPr lang="en-ZA" sz="2000">
                <a:solidFill>
                  <a:schemeClr val="tx1">
                    <a:lumMod val="85000"/>
                    <a:lumOff val="15000"/>
                  </a:schemeClr>
                </a:solidFill>
              </a:rPr>
              <a:t>All of the newly added features now improve the overall productivity through:</a:t>
            </a:r>
          </a:p>
          <a:p>
            <a:r>
              <a:rPr lang="en-ZA" sz="2000">
                <a:solidFill>
                  <a:schemeClr val="tx1">
                    <a:lumMod val="85000"/>
                    <a:lumOff val="15000"/>
                  </a:schemeClr>
                </a:solidFill>
              </a:rPr>
              <a:t>Automating the claim management system</a:t>
            </a:r>
          </a:p>
          <a:p>
            <a:r>
              <a:rPr lang="en-ZA" sz="2000">
                <a:solidFill>
                  <a:schemeClr val="tx1">
                    <a:lumMod val="85000"/>
                    <a:lumOff val="15000"/>
                  </a:schemeClr>
                </a:solidFill>
              </a:rPr>
              <a:t>Enforcing approval workflows</a:t>
            </a:r>
          </a:p>
          <a:p>
            <a:r>
              <a:rPr lang="en-ZA" sz="2000">
                <a:solidFill>
                  <a:schemeClr val="tx1">
                    <a:lumMod val="85000"/>
                    <a:lumOff val="15000"/>
                  </a:schemeClr>
                </a:solidFill>
              </a:rPr>
              <a:t>Supporting role based access</a:t>
            </a:r>
          </a:p>
          <a:p>
            <a:r>
              <a:rPr lang="en-ZA" sz="2000">
                <a:solidFill>
                  <a:schemeClr val="tx1">
                    <a:lumMod val="85000"/>
                    <a:lumOff val="15000"/>
                  </a:schemeClr>
                </a:solidFill>
              </a:rPr>
              <a:t>Enhancing HR ability to track, process and report claims</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418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262</TotalTime>
  <Words>471</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PROG POE Final</vt:lpstr>
      <vt:lpstr>Overview </vt:lpstr>
      <vt:lpstr>Automated Payment Calculation</vt:lpstr>
      <vt:lpstr>End-to-End Automation</vt:lpstr>
      <vt:lpstr>Workflow Structure</vt:lpstr>
      <vt:lpstr>Role-Based Access</vt:lpstr>
      <vt:lpstr>Database and Entity Framework</vt:lpstr>
      <vt:lpstr>HR Reports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Joel Tristan Peter Napier</dc:creator>
  <cp:lastModifiedBy>Joel Tristan Peter Napier</cp:lastModifiedBy>
  <cp:revision>1</cp:revision>
  <dcterms:created xsi:type="dcterms:W3CDTF">2025-11-20T20:48:38Z</dcterms:created>
  <dcterms:modified xsi:type="dcterms:W3CDTF">2025-11-21T01:10:51Z</dcterms:modified>
</cp:coreProperties>
</file>